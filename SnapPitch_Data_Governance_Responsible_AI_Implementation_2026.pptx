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70180" y="1051560"/>
            <a:ext cx="11809095" cy="7804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3100" b="1">
                <a:solidFill>
                  <a:srgbClr val="FFFFFF"/>
                </a:solidFill>
                <a:latin typeface="Aptos"/>
              </a:rPr>
              <a:t>SnapPitch Data Governance &amp; Responsible AI Implementation</a:t>
            </a:r>
            <a:endParaRPr sz="3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49808" y="182880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CE6F0"/>
                </a:solidFill>
                <a:latin typeface="Aptos"/>
              </a:rPr>
              <a:t>Real-world data governance, data quality and AI governance implementation for an AI-enabled CV platform</a:t>
            </a:r>
            <a:endParaRPr sz="1700" b="0">
              <a:solidFill>
                <a:srgbClr val="DCE6F0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9808" y="27432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OLUWASOLA SOBOLA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9808" y="318211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6F0"/>
                </a:solidFill>
                <a:latin typeface="Aptos"/>
              </a:rPr>
              <a:t>Data Governance Team Lead | EPI-Tech Internship</a:t>
            </a:r>
            <a:endParaRPr sz="1400" b="0">
              <a:solidFill>
                <a:srgbClr val="DCE6F0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49808" y="4069080"/>
            <a:ext cx="3291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4069080"/>
            <a:ext cx="73152" cy="1143000"/>
          </a:xfrm>
          <a:prstGeom prst="rect">
            <a:avLst/>
          </a:prstGeom>
          <a:solidFill>
            <a:srgbClr val="2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7" y="4233672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43C"/>
                </a:solidFill>
                <a:latin typeface="Aptos"/>
              </a:rPr>
              <a:t>PROJECT TYPE</a:t>
            </a:r>
            <a:endParaRPr sz="1500" b="1">
              <a:solidFill>
                <a:srgbClr val="14243C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78407" y="4636008"/>
            <a:ext cx="2880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02730"/>
                </a:solidFill>
                <a:latin typeface="Aptos"/>
              </a:rPr>
              <a:t>Real internship project</a:t>
            </a:r>
            <a:br>
              <a:rPr sz="1300" b="0">
                <a:solidFill>
                  <a:srgbClr val="202730"/>
                </a:solidFill>
                <a:latin typeface="Aptos"/>
              </a:rPr>
            </a:br>
            <a:r>
              <a:rPr sz="1300" b="0">
                <a:solidFill>
                  <a:srgbClr val="202730"/>
                </a:solidFill>
                <a:latin typeface="Aptos"/>
              </a:rPr>
              <a:t>Cross-functional digital product</a:t>
            </a:r>
            <a:endParaRPr sz="1300" b="0">
              <a:solidFill>
                <a:srgbClr val="202730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297680" y="4069080"/>
            <a:ext cx="3291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4069080"/>
            <a:ext cx="73152" cy="1143000"/>
          </a:xfrm>
          <a:prstGeom prst="rect">
            <a:avLst/>
          </a:prstGeom>
          <a:solidFill>
            <a:srgbClr val="2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4233672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43C"/>
                </a:solidFill>
                <a:latin typeface="Aptos"/>
              </a:rPr>
              <a:t>FOCUS</a:t>
            </a:r>
            <a:endParaRPr sz="1500" b="1">
              <a:solidFill>
                <a:srgbClr val="14243C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26280" y="4636008"/>
            <a:ext cx="2880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02730"/>
                </a:solidFill>
                <a:latin typeface="Aptos"/>
              </a:rPr>
              <a:t>Data Governance | Data Quality</a:t>
            </a:r>
            <a:br>
              <a:rPr sz="1300" b="0">
                <a:solidFill>
                  <a:srgbClr val="202730"/>
                </a:solidFill>
                <a:latin typeface="Aptos"/>
              </a:rPr>
            </a:br>
            <a:r>
              <a:rPr sz="1300" b="0">
                <a:solidFill>
                  <a:srgbClr val="202730"/>
                </a:solidFill>
                <a:latin typeface="Aptos"/>
              </a:rPr>
              <a:t>Privacy | Responsible AI</a:t>
            </a:r>
            <a:endParaRPr sz="1300" b="0">
              <a:solidFill>
                <a:srgbClr val="202730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845552" y="4069080"/>
            <a:ext cx="3291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45552" y="4069080"/>
            <a:ext cx="73152" cy="1143000"/>
          </a:xfrm>
          <a:prstGeom prst="rect">
            <a:avLst/>
          </a:prstGeom>
          <a:solidFill>
            <a:srgbClr val="2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4233672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43C"/>
                </a:solidFill>
                <a:latin typeface="Aptos"/>
              </a:rPr>
              <a:t>PLATFORM</a:t>
            </a:r>
            <a:endParaRPr sz="1500" b="1">
              <a:solidFill>
                <a:srgbClr val="14243C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074152" y="4636008"/>
            <a:ext cx="2880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02730"/>
                </a:solidFill>
                <a:latin typeface="Aptos"/>
              </a:rPr>
              <a:t>AI-powered CV generation</a:t>
            </a:r>
            <a:br>
              <a:rPr sz="1300" b="0">
                <a:solidFill>
                  <a:srgbClr val="202730"/>
                </a:solidFill>
                <a:latin typeface="Aptos"/>
              </a:rPr>
            </a:br>
            <a:r>
              <a:rPr sz="1300" b="0">
                <a:solidFill>
                  <a:srgbClr val="202730"/>
                </a:solidFill>
                <a:latin typeface="Aptos"/>
              </a:rPr>
              <a:t>Registered-user architecture</a:t>
            </a:r>
            <a:endParaRPr sz="1300" b="0">
              <a:solidFill>
                <a:srgbClr val="202730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49808" y="61722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ECCDC"/>
                </a:solidFill>
                <a:latin typeface="Aptos"/>
              </a:rPr>
              <a:t>Real-world EPI-Tech internship project | Selected evidence from governance deliverables and review findings</a:t>
            </a:r>
            <a:endParaRPr sz="1000" b="0">
              <a:solidFill>
                <a:srgbClr val="BECCD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243C"/>
                </a:solidFill>
                <a:latin typeface="Aptos"/>
              </a:rPr>
              <a:t>1. Project context &amp; governance trigger</a:t>
            </a:r>
            <a:endParaRPr sz="2800" b="1">
              <a:solidFill>
                <a:srgbClr val="14243C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672"/>
                </a:solidFill>
                <a:latin typeface="Aptos"/>
              </a:rPr>
              <a:t>Why governance requirements changed as the product architecture evolved</a:t>
            </a:r>
            <a:endParaRPr sz="1100" b="0">
              <a:solidFill>
                <a:srgbClr val="5B6672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1143000" cy="45720"/>
          </a:xfrm>
          <a:prstGeom prst="rect">
            <a:avLst/>
          </a:prstGeom>
          <a:solidFill>
            <a:srgbClr val="2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4290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73152" cy="4251960"/>
          </a:xfrm>
          <a:prstGeom prst="rect">
            <a:avLst/>
          </a:prstGeom>
          <a:solidFill>
            <a:srgbClr val="2A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562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43C"/>
                </a:solidFill>
                <a:latin typeface="Aptos"/>
              </a:rPr>
              <a:t>ORIGINAL DESIGN</a:t>
            </a:r>
            <a:endParaRPr sz="1500" b="1">
              <a:solidFill>
                <a:srgbClr val="14243C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2258568"/>
            <a:ext cx="3017520" cy="3538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02730"/>
                </a:solidFill>
                <a:latin typeface="Aptos"/>
              </a:rPr>
              <a:t>Session-only architecture</a:t>
            </a:r>
            <a:br>
              <a:rPr sz="1500" b="0">
                <a:solidFill>
                  <a:srgbClr val="202730"/>
                </a:solidFill>
                <a:latin typeface="Aptos"/>
              </a:rPr>
            </a:br>
            <a:br>
              <a:rPr sz="1500" b="0">
                <a:solidFill>
                  <a:srgbClr val="202730"/>
                </a:solidFill>
                <a:latin typeface="Aptos"/>
              </a:rPr>
            </a:br>
            <a:r>
              <a:rPr sz="1500" b="0">
                <a:solidFill>
                  <a:srgbClr val="202730"/>
                </a:solidFill>
                <a:latin typeface="Aptos"/>
              </a:rPr>
              <a:t>User information was not intended to persist after use.</a:t>
            </a:r>
            <a:br>
              <a:rPr sz="1500" b="0">
                <a:solidFill>
                  <a:srgbClr val="202730"/>
                </a:solidFill>
                <a:latin typeface="Aptos"/>
              </a:rPr>
            </a:br>
            <a:br>
              <a:rPr sz="1500" b="0">
                <a:solidFill>
                  <a:srgbClr val="202730"/>
                </a:solidFill>
                <a:latin typeface="Aptos"/>
              </a:rPr>
            </a:br>
            <a:r>
              <a:rPr sz="1500" b="0">
                <a:solidFill>
                  <a:srgbClr val="202730"/>
                </a:solidFill>
                <a:latin typeface="Aptos"/>
              </a:rPr>
              <a:t>Governance scope was therefore comparatively limited.</a:t>
            </a:r>
            <a:endParaRPr sz="1500" b="0">
              <a:solidFill>
                <a:srgbClr val="202730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370832" y="1691640"/>
            <a:ext cx="34290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691640"/>
            <a:ext cx="73152" cy="4251960"/>
          </a:xfrm>
          <a:prstGeom prst="rect">
            <a:avLst/>
          </a:prstGeom>
          <a:solidFill>
            <a:srgbClr val="2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8562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43C"/>
                </a:solidFill>
                <a:latin typeface="Aptos"/>
              </a:rPr>
              <a:t>ARCHITECTURE CHANGE</a:t>
            </a:r>
            <a:endParaRPr sz="1500" b="1">
              <a:solidFill>
                <a:srgbClr val="14243C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99432" y="2258568"/>
            <a:ext cx="3017520" cy="3538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02730"/>
                </a:solidFill>
                <a:latin typeface="Aptos"/>
              </a:rPr>
              <a:t>The platform evolved to registered users with persistent data storage, uploaded CV handling, profile reuse and returning-user dashboards.</a:t>
            </a:r>
            <a:br>
              <a:rPr sz="1500" b="0">
                <a:solidFill>
                  <a:srgbClr val="202730"/>
                </a:solidFill>
                <a:latin typeface="Aptos"/>
              </a:rPr>
            </a:br>
            <a:br>
              <a:rPr sz="1500" b="0">
                <a:solidFill>
                  <a:srgbClr val="202730"/>
                </a:solidFill>
                <a:latin typeface="Aptos"/>
              </a:rPr>
            </a:br>
            <a:r>
              <a:rPr sz="1500" b="0">
                <a:solidFill>
                  <a:srgbClr val="202730"/>
                </a:solidFill>
                <a:latin typeface="Aptos"/>
              </a:rPr>
              <a:t>This materially increased privacy, security, retention and accountability requirements.</a:t>
            </a:r>
            <a:endParaRPr sz="1500" b="0">
              <a:solidFill>
                <a:srgbClr val="202730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101583" y="1691640"/>
            <a:ext cx="34290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1583" y="1691640"/>
            <a:ext cx="73152" cy="4251960"/>
          </a:xfrm>
          <a:prstGeom prst="rect">
            <a:avLst/>
          </a:prstGeom>
          <a:solidFill>
            <a:srgbClr val="2A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3" y="18562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43C"/>
                </a:solidFill>
                <a:latin typeface="Aptos"/>
              </a:rPr>
              <a:t>GOVERNANCE RESPONSE</a:t>
            </a:r>
            <a:endParaRPr sz="1500" b="1">
              <a:solidFill>
                <a:srgbClr val="14243C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30183" y="2258568"/>
            <a:ext cx="3017520" cy="3538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02730"/>
                </a:solidFill>
                <a:latin typeface="Aptos"/>
              </a:rPr>
              <a:t>The Data Governance team updated the framework to address stored personal information, authentication, cloud storage, AI processing, lifecycle controls, monitoring and implementation oversight.</a:t>
            </a:r>
            <a:endParaRPr sz="1500" b="0">
              <a:solidFill>
                <a:srgbClr val="202730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8368" y="6172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243C"/>
                </a:solidFill>
                <a:latin typeface="Aptos"/>
              </a:rPr>
              <a:t>Governance was adapted to the changing product design rather than treated as a static documentation exercise.</a:t>
            </a:r>
            <a:endParaRPr sz="1200" b="1">
              <a:solidFill>
                <a:srgbClr val="14243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243C"/>
                </a:solidFill>
                <a:latin typeface="Aptos"/>
              </a:rPr>
              <a:t>2. My role &amp; governance leadership</a:t>
            </a:r>
            <a:endParaRPr sz="2800" b="1">
              <a:solidFill>
                <a:srgbClr val="14243C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672"/>
                </a:solidFill>
                <a:latin typeface="Aptos"/>
              </a:rPr>
              <a:t>Leading the Data Governance workstream within a multi-team internship project</a:t>
            </a:r>
            <a:endParaRPr sz="1100" b="0">
              <a:solidFill>
                <a:srgbClr val="5B6672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1143000" cy="45720"/>
          </a:xfrm>
          <a:prstGeom prst="rect">
            <a:avLst/>
          </a:prstGeom>
          <a:solidFill>
            <a:srgbClr val="2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6576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73152" cy="4434840"/>
          </a:xfrm>
          <a:prstGeom prst="rect">
            <a:avLst/>
          </a:prstGeom>
          <a:solidFill>
            <a:srgbClr val="2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56232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43C"/>
                </a:solidFill>
                <a:latin typeface="Aptos"/>
              </a:rPr>
              <a:t>MY ROLE</a:t>
            </a:r>
            <a:endParaRPr sz="1500" b="1">
              <a:solidFill>
                <a:srgbClr val="14243C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2258568"/>
            <a:ext cx="3246120" cy="3721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02730"/>
                </a:solidFill>
                <a:latin typeface="Aptos"/>
              </a:rPr>
              <a:t>Data Governance Team Lead</a:t>
            </a:r>
            <a:br>
              <a:rPr sz="1500" b="0">
                <a:solidFill>
                  <a:srgbClr val="202730"/>
                </a:solidFill>
                <a:latin typeface="Aptos"/>
              </a:rPr>
            </a:br>
            <a:br>
              <a:rPr sz="1500" b="0">
                <a:solidFill>
                  <a:srgbClr val="202730"/>
                </a:solidFill>
                <a:latin typeface="Aptos"/>
              </a:rPr>
            </a:br>
            <a:r>
              <a:rPr sz="1500" b="0">
                <a:solidFill>
                  <a:srgbClr val="202730"/>
                </a:solidFill>
                <a:latin typeface="Aptos"/>
              </a:rPr>
              <a:t>Led an eight-member governance team and coordinated governance deliverables, review activity and recommendations.</a:t>
            </a:r>
            <a:br>
              <a:rPr sz="1500" b="0">
                <a:solidFill>
                  <a:srgbClr val="202730"/>
                </a:solidFill>
                <a:latin typeface="Aptos"/>
              </a:rPr>
            </a:br>
            <a:br>
              <a:rPr sz="1500" b="0">
                <a:solidFill>
                  <a:srgbClr val="202730"/>
                </a:solidFill>
                <a:latin typeface="Aptos"/>
              </a:rPr>
            </a:br>
            <a:r>
              <a:rPr sz="1500" b="0">
                <a:solidFill>
                  <a:srgbClr val="202730"/>
                </a:solidFill>
                <a:latin typeface="Aptos"/>
              </a:rPr>
              <a:t>Worked with Software Engineering and wider project stakeholders as the platform architecture and requirements evolved.</a:t>
            </a:r>
            <a:endParaRPr sz="1500" b="0">
              <a:solidFill>
                <a:srgbClr val="202730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0" y="1691640"/>
            <a:ext cx="32461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1691640"/>
            <a:ext cx="73152" cy="4434840"/>
          </a:xfrm>
          <a:prstGeom prst="rect">
            <a:avLst/>
          </a:prstGeom>
          <a:solidFill>
            <a:srgbClr val="2A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1856232"/>
            <a:ext cx="2834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43C"/>
                </a:solidFill>
                <a:latin typeface="Aptos"/>
              </a:rPr>
              <a:t>CORE RESPONSIBILITIES</a:t>
            </a:r>
            <a:endParaRPr sz="1500" b="1">
              <a:solidFill>
                <a:srgbClr val="14243C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00600" y="2258568"/>
            <a:ext cx="2834639" cy="3721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02730"/>
                </a:solidFill>
                <a:latin typeface="Aptos"/>
              </a:rPr>
              <a:t>• Governance framework</a:t>
            </a:r>
            <a:br>
              <a:rPr sz="1400" b="0">
                <a:solidFill>
                  <a:srgbClr val="202730"/>
                </a:solidFill>
                <a:latin typeface="Aptos"/>
              </a:rPr>
            </a:br>
            <a:r>
              <a:rPr sz="1400" b="0">
                <a:solidFill>
                  <a:srgbClr val="202730"/>
                </a:solidFill>
                <a:latin typeface="Aptos"/>
              </a:rPr>
              <a:t>• Data quality requirements</a:t>
            </a:r>
            <a:br>
              <a:rPr sz="1400" b="0">
                <a:solidFill>
                  <a:srgbClr val="202730"/>
                </a:solidFill>
                <a:latin typeface="Aptos"/>
              </a:rPr>
            </a:br>
            <a:r>
              <a:rPr sz="1400" b="0">
                <a:solidFill>
                  <a:srgbClr val="202730"/>
                </a:solidFill>
                <a:latin typeface="Aptos"/>
              </a:rPr>
              <a:t>• Privacy &amp; classification</a:t>
            </a:r>
            <a:br>
              <a:rPr sz="1400" b="0">
                <a:solidFill>
                  <a:srgbClr val="202730"/>
                </a:solidFill>
                <a:latin typeface="Aptos"/>
              </a:rPr>
            </a:br>
            <a:r>
              <a:rPr sz="1400" b="0">
                <a:solidFill>
                  <a:srgbClr val="202730"/>
                </a:solidFill>
                <a:latin typeface="Aptos"/>
              </a:rPr>
              <a:t>• Retention &amp; lifecycle</a:t>
            </a:r>
            <a:br>
              <a:rPr sz="1400" b="0">
                <a:solidFill>
                  <a:srgbClr val="202730"/>
                </a:solidFill>
                <a:latin typeface="Aptos"/>
              </a:rPr>
            </a:br>
            <a:r>
              <a:rPr sz="1400" b="0">
                <a:solidFill>
                  <a:srgbClr val="202730"/>
                </a:solidFill>
                <a:latin typeface="Aptos"/>
              </a:rPr>
              <a:t>• Access governance</a:t>
            </a:r>
            <a:br>
              <a:rPr sz="1400" b="0">
                <a:solidFill>
                  <a:srgbClr val="202730"/>
                </a:solidFill>
                <a:latin typeface="Aptos"/>
              </a:rPr>
            </a:br>
            <a:r>
              <a:rPr sz="1400" b="0">
                <a:solidFill>
                  <a:srgbClr val="202730"/>
                </a:solidFill>
                <a:latin typeface="Aptos"/>
              </a:rPr>
              <a:t>• Governance risk</a:t>
            </a:r>
            <a:br>
              <a:rPr sz="1400" b="0">
                <a:solidFill>
                  <a:srgbClr val="202730"/>
                </a:solidFill>
                <a:latin typeface="Aptos"/>
              </a:rPr>
            </a:br>
            <a:r>
              <a:rPr sz="1400" b="0">
                <a:solidFill>
                  <a:srgbClr val="202730"/>
                </a:solidFill>
                <a:latin typeface="Aptos"/>
              </a:rPr>
              <a:t>• Responsible AI</a:t>
            </a:r>
            <a:br>
              <a:rPr sz="1400" b="0">
                <a:solidFill>
                  <a:srgbClr val="202730"/>
                </a:solidFill>
                <a:latin typeface="Aptos"/>
              </a:rPr>
            </a:br>
            <a:r>
              <a:rPr sz="1400" b="0">
                <a:solidFill>
                  <a:srgbClr val="202730"/>
                </a:solidFill>
                <a:latin typeface="Aptos"/>
              </a:rPr>
              <a:t>• Review &amp; assurance</a:t>
            </a:r>
            <a:endParaRPr sz="1400" b="0">
              <a:solidFill>
                <a:srgbClr val="202730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92440" y="1691640"/>
            <a:ext cx="34290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691640"/>
            <a:ext cx="73152" cy="4434840"/>
          </a:xfrm>
          <a:prstGeom prst="rect">
            <a:avLst/>
          </a:prstGeom>
          <a:solidFill>
            <a:srgbClr val="2A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8562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43C"/>
                </a:solidFill>
                <a:latin typeface="Aptos"/>
              </a:rPr>
              <a:t>WORKING MODEL</a:t>
            </a:r>
            <a:endParaRPr sz="1500" b="1">
              <a:solidFill>
                <a:srgbClr val="14243C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1040" y="2258568"/>
            <a:ext cx="3017520" cy="3721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02730"/>
                </a:solidFill>
                <a:latin typeface="Aptos"/>
              </a:rPr>
              <a:t>Governance defined requirements, reviewed the user-facing platform, documented findings and sought implementation assurance.</a:t>
            </a:r>
            <a:br>
              <a:rPr sz="1400" b="0">
                <a:solidFill>
                  <a:srgbClr val="202730"/>
                </a:solidFill>
                <a:latin typeface="Aptos"/>
              </a:rPr>
            </a:br>
            <a:br>
              <a:rPr sz="1400" b="0">
                <a:solidFill>
                  <a:srgbClr val="202730"/>
                </a:solidFill>
                <a:latin typeface="Aptos"/>
              </a:rPr>
            </a:br>
            <a:r>
              <a:rPr sz="1400" b="0">
                <a:solidFill>
                  <a:srgbClr val="202730"/>
                </a:solidFill>
                <a:latin typeface="Aptos"/>
              </a:rPr>
              <a:t>Technical teams remained responsible for engineering implementation of controls.</a:t>
            </a:r>
            <a:endParaRPr sz="1400" b="0">
              <a:solidFill>
                <a:srgbClr val="20273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243C"/>
                </a:solidFill>
                <a:latin typeface="Aptos"/>
              </a:rPr>
              <a:t>3. Governance deliverables</a:t>
            </a:r>
            <a:endParaRPr sz="2800" b="1">
              <a:solidFill>
                <a:srgbClr val="14243C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672"/>
                </a:solidFill>
                <a:latin typeface="Aptos"/>
              </a:rPr>
              <a:t>A practical governance foundation for the SnapPitch platform</a:t>
            </a:r>
            <a:endParaRPr sz="1100" b="0">
              <a:solidFill>
                <a:srgbClr val="5B6672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1143000" cy="45720"/>
          </a:xfrm>
          <a:prstGeom prst="rect">
            <a:avLst/>
          </a:prstGeom>
          <a:solidFill>
            <a:srgbClr val="2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2461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73152" cy="1783080"/>
          </a:xfrm>
          <a:prstGeom prst="rect">
            <a:avLst/>
          </a:prstGeom>
          <a:solidFill>
            <a:srgbClr val="2A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10512"/>
            <a:ext cx="2834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43C"/>
                </a:solidFill>
                <a:latin typeface="Aptos"/>
              </a:rPr>
              <a:t>Governance</a:t>
            </a:r>
            <a:endParaRPr sz="1500" b="1">
              <a:solidFill>
                <a:srgbClr val="14243C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2212848"/>
            <a:ext cx="2834639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02730"/>
                </a:solidFill>
                <a:latin typeface="Aptos"/>
              </a:rPr>
              <a:t>Data Governance Framework</a:t>
            </a:r>
            <a:br>
              <a:rPr sz="1300" b="0">
                <a:solidFill>
                  <a:srgbClr val="202730"/>
                </a:solidFill>
                <a:latin typeface="Aptos"/>
              </a:rPr>
            </a:br>
            <a:r>
              <a:rPr sz="1300" b="0">
                <a:solidFill>
                  <a:srgbClr val="202730"/>
                </a:solidFill>
                <a:latin typeface="Aptos"/>
              </a:rPr>
              <a:t>Governance responsibilities</a:t>
            </a:r>
            <a:br>
              <a:rPr sz="1300" b="0">
                <a:solidFill>
                  <a:srgbClr val="202730"/>
                </a:solidFill>
                <a:latin typeface="Aptos"/>
              </a:rPr>
            </a:br>
            <a:r>
              <a:rPr sz="1300" b="0">
                <a:solidFill>
                  <a:srgbClr val="202730"/>
                </a:solidFill>
                <a:latin typeface="Aptos"/>
              </a:rPr>
              <a:t>Implementation requirements</a:t>
            </a:r>
            <a:endParaRPr sz="1300" b="0">
              <a:solidFill>
                <a:srgbClr val="202730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160520" y="1645920"/>
            <a:ext cx="32461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1645920"/>
            <a:ext cx="73152" cy="1783080"/>
          </a:xfrm>
          <a:prstGeom prst="rect">
            <a:avLst/>
          </a:prstGeom>
          <a:solidFill>
            <a:srgbClr val="2A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810512"/>
            <a:ext cx="2834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43C"/>
                </a:solidFill>
                <a:latin typeface="Aptos"/>
              </a:rPr>
              <a:t>Data Management</a:t>
            </a:r>
            <a:endParaRPr sz="1500" b="1">
              <a:solidFill>
                <a:srgbClr val="14243C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89120" y="2212848"/>
            <a:ext cx="2834639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02730"/>
                </a:solidFill>
                <a:latin typeface="Aptos"/>
              </a:rPr>
              <a:t>Data Inventory</a:t>
            </a:r>
            <a:br>
              <a:rPr sz="1300" b="0">
                <a:solidFill>
                  <a:srgbClr val="202730"/>
                </a:solidFill>
                <a:latin typeface="Aptos"/>
              </a:rPr>
            </a:br>
            <a:r>
              <a:rPr sz="1300" b="0">
                <a:solidFill>
                  <a:srgbClr val="202730"/>
                </a:solidFill>
                <a:latin typeface="Aptos"/>
              </a:rPr>
              <a:t>Data Dictionary</a:t>
            </a:r>
            <a:br>
              <a:rPr sz="1300" b="0">
                <a:solidFill>
                  <a:srgbClr val="202730"/>
                </a:solidFill>
                <a:latin typeface="Aptos"/>
              </a:rPr>
            </a:br>
            <a:r>
              <a:rPr sz="1300" b="0">
                <a:solidFill>
                  <a:srgbClr val="202730"/>
                </a:solidFill>
                <a:latin typeface="Aptos"/>
              </a:rPr>
              <a:t>Business Glossary</a:t>
            </a:r>
            <a:endParaRPr sz="1300" b="0">
              <a:solidFill>
                <a:srgbClr val="202730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680960" y="1645920"/>
            <a:ext cx="32461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645920"/>
            <a:ext cx="73152" cy="1783080"/>
          </a:xfrm>
          <a:prstGeom prst="rect">
            <a:avLst/>
          </a:prstGeom>
          <a:solidFill>
            <a:srgbClr val="2A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1810512"/>
            <a:ext cx="2834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43C"/>
                </a:solidFill>
                <a:latin typeface="Aptos"/>
              </a:rPr>
              <a:t>Data Quality</a:t>
            </a:r>
            <a:endParaRPr sz="1500" b="1">
              <a:solidFill>
                <a:srgbClr val="14243C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909560" y="2212848"/>
            <a:ext cx="2834639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02730"/>
                </a:solidFill>
                <a:latin typeface="Aptos"/>
              </a:rPr>
              <a:t>Data Quality Assessment</a:t>
            </a:r>
            <a:br>
              <a:rPr sz="1300" b="0">
                <a:solidFill>
                  <a:srgbClr val="202730"/>
                </a:solidFill>
                <a:latin typeface="Aptos"/>
              </a:rPr>
            </a:br>
            <a:r>
              <a:rPr sz="1300" b="0">
                <a:solidFill>
                  <a:srgbClr val="202730"/>
                </a:solidFill>
                <a:latin typeface="Aptos"/>
              </a:rPr>
              <a:t>DQ dimensions &amp; rules</a:t>
            </a:r>
            <a:br>
              <a:rPr sz="1300" b="0">
                <a:solidFill>
                  <a:srgbClr val="202730"/>
                </a:solidFill>
                <a:latin typeface="Aptos"/>
              </a:rPr>
            </a:br>
            <a:r>
              <a:rPr sz="1300" b="0">
                <a:solidFill>
                  <a:srgbClr val="202730"/>
                </a:solidFill>
                <a:latin typeface="Aptos"/>
              </a:rPr>
              <a:t>Validation requirements</a:t>
            </a:r>
            <a:endParaRPr sz="1300" b="0">
              <a:solidFill>
                <a:srgbClr val="202730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0080" y="3794760"/>
            <a:ext cx="32461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794760"/>
            <a:ext cx="73152" cy="1783080"/>
          </a:xfrm>
          <a:prstGeom prst="rect">
            <a:avLst/>
          </a:prstGeom>
          <a:solidFill>
            <a:srgbClr val="2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59352"/>
            <a:ext cx="2834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43C"/>
                </a:solidFill>
                <a:latin typeface="Aptos"/>
              </a:rPr>
              <a:t>Privacy &amp; Lifecycle</a:t>
            </a:r>
            <a:endParaRPr sz="1500" b="1">
              <a:solidFill>
                <a:srgbClr val="14243C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68680" y="4361688"/>
            <a:ext cx="2834639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02730"/>
                </a:solidFill>
                <a:latin typeface="Aptos"/>
              </a:rPr>
              <a:t>Data Classification Policy</a:t>
            </a:r>
            <a:br>
              <a:rPr sz="1300" b="0">
                <a:solidFill>
                  <a:srgbClr val="202730"/>
                </a:solidFill>
                <a:latin typeface="Aptos"/>
              </a:rPr>
            </a:br>
            <a:r>
              <a:rPr sz="1300" b="0">
                <a:solidFill>
                  <a:srgbClr val="202730"/>
                </a:solidFill>
                <a:latin typeface="Aptos"/>
              </a:rPr>
              <a:t>Privacy Policy / Notice</a:t>
            </a:r>
            <a:br>
              <a:rPr sz="1300" b="0">
                <a:solidFill>
                  <a:srgbClr val="202730"/>
                </a:solidFill>
                <a:latin typeface="Aptos"/>
              </a:rPr>
            </a:br>
            <a:r>
              <a:rPr sz="1300" b="0">
                <a:solidFill>
                  <a:srgbClr val="202730"/>
                </a:solidFill>
                <a:latin typeface="Aptos"/>
              </a:rPr>
              <a:t>Retention Schedule</a:t>
            </a:r>
            <a:endParaRPr sz="1300" b="0">
              <a:solidFill>
                <a:srgbClr val="202730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160520" y="3794760"/>
            <a:ext cx="32461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60520" y="3794760"/>
            <a:ext cx="73152" cy="1783080"/>
          </a:xfrm>
          <a:prstGeom prst="rect">
            <a:avLst/>
          </a:prstGeom>
          <a:solidFill>
            <a:srgbClr val="2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3959352"/>
            <a:ext cx="2834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43C"/>
                </a:solidFill>
                <a:latin typeface="Aptos"/>
              </a:rPr>
              <a:t>AI &amp; Risk</a:t>
            </a:r>
            <a:endParaRPr sz="1500" b="1">
              <a:solidFill>
                <a:srgbClr val="14243C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389120" y="4361688"/>
            <a:ext cx="2834639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02730"/>
                </a:solidFill>
                <a:latin typeface="Aptos"/>
              </a:rPr>
              <a:t>AI Governance Framework</a:t>
            </a:r>
            <a:br>
              <a:rPr sz="1300" b="0">
                <a:solidFill>
                  <a:srgbClr val="202730"/>
                </a:solidFill>
                <a:latin typeface="Aptos"/>
              </a:rPr>
            </a:br>
            <a:r>
              <a:rPr sz="1300" b="0">
                <a:solidFill>
                  <a:srgbClr val="202730"/>
                </a:solidFill>
                <a:latin typeface="Aptos"/>
              </a:rPr>
              <a:t>Governance Risk Register</a:t>
            </a:r>
            <a:br>
              <a:rPr sz="1300" b="0">
                <a:solidFill>
                  <a:srgbClr val="202730"/>
                </a:solidFill>
                <a:latin typeface="Aptos"/>
              </a:rPr>
            </a:br>
            <a:r>
              <a:rPr sz="1300" b="0">
                <a:solidFill>
                  <a:srgbClr val="202730"/>
                </a:solidFill>
                <a:latin typeface="Aptos"/>
              </a:rPr>
              <a:t>Incident escalation</a:t>
            </a:r>
            <a:endParaRPr sz="1300" b="0">
              <a:solidFill>
                <a:srgbClr val="202730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680960" y="3794760"/>
            <a:ext cx="32461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80960" y="3794760"/>
            <a:ext cx="73152" cy="1783080"/>
          </a:xfrm>
          <a:prstGeom prst="rect">
            <a:avLst/>
          </a:prstGeom>
          <a:solidFill>
            <a:srgbClr val="2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60" y="3959352"/>
            <a:ext cx="2834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43C"/>
                </a:solidFill>
                <a:latin typeface="Aptos"/>
              </a:rPr>
              <a:t>Access &amp; Assurance</a:t>
            </a:r>
            <a:endParaRPr sz="1500" b="1">
              <a:solidFill>
                <a:srgbClr val="14243C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909560" y="4361688"/>
            <a:ext cx="2834639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02730"/>
                </a:solidFill>
                <a:latin typeface="Aptos"/>
              </a:rPr>
              <a:t>Authentication/access requirements</a:t>
            </a:r>
            <a:br>
              <a:rPr sz="1300" b="0">
                <a:solidFill>
                  <a:srgbClr val="202730"/>
                </a:solidFill>
                <a:latin typeface="Aptos"/>
              </a:rPr>
            </a:br>
            <a:r>
              <a:rPr sz="1300" b="0">
                <a:solidFill>
                  <a:srgbClr val="202730"/>
                </a:solidFill>
                <a:latin typeface="Aptos"/>
              </a:rPr>
              <a:t>Admin &amp; developer access policy</a:t>
            </a:r>
            <a:br>
              <a:rPr sz="1300" b="0">
                <a:solidFill>
                  <a:srgbClr val="202730"/>
                </a:solidFill>
                <a:latin typeface="Aptos"/>
              </a:rPr>
            </a:br>
            <a:r>
              <a:rPr sz="1300" b="0">
                <a:solidFill>
                  <a:srgbClr val="202730"/>
                </a:solidFill>
                <a:latin typeface="Aptos"/>
              </a:rPr>
              <a:t>Monitoring/audit requirements</a:t>
            </a:r>
            <a:endParaRPr sz="1300" b="0">
              <a:solidFill>
                <a:srgbClr val="20273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243C"/>
                </a:solidFill>
                <a:latin typeface="Aptos"/>
              </a:rPr>
              <a:t>4. Data Quality: from principles to testing</a:t>
            </a:r>
            <a:endParaRPr sz="2800" b="1">
              <a:solidFill>
                <a:srgbClr val="14243C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672"/>
                </a:solidFill>
                <a:latin typeface="Aptos"/>
              </a:rPr>
              <a:t>How the team translated DQ concepts into platform controls and review evidence</a:t>
            </a:r>
            <a:endParaRPr sz="1100" b="0">
              <a:solidFill>
                <a:srgbClr val="5B6672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1143000" cy="45720"/>
          </a:xfrm>
          <a:prstGeom prst="rect">
            <a:avLst/>
          </a:prstGeom>
          <a:solidFill>
            <a:srgbClr val="2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337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73152" cy="4526280"/>
          </a:xfrm>
          <a:prstGeom prst="rect">
            <a:avLst/>
          </a:prstGeom>
          <a:solidFill>
            <a:srgbClr val="2A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10512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43C"/>
                </a:solidFill>
                <a:latin typeface="Aptos"/>
              </a:rPr>
              <a:t>DQ DIMENSIONS</a:t>
            </a:r>
            <a:endParaRPr sz="1500" b="1">
              <a:solidFill>
                <a:srgbClr val="14243C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2212848"/>
            <a:ext cx="2926079" cy="381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02730"/>
                </a:solidFill>
                <a:latin typeface="Aptos"/>
              </a:rPr>
              <a:t>Accuracy</a:t>
            </a:r>
            <a:br>
              <a:rPr sz="1500" b="0">
                <a:solidFill>
                  <a:srgbClr val="202730"/>
                </a:solidFill>
                <a:latin typeface="Aptos"/>
              </a:rPr>
            </a:br>
            <a:r>
              <a:rPr sz="1500" b="0">
                <a:solidFill>
                  <a:srgbClr val="202730"/>
                </a:solidFill>
                <a:latin typeface="Aptos"/>
              </a:rPr>
              <a:t>Completeness</a:t>
            </a:r>
            <a:br>
              <a:rPr sz="1500" b="0">
                <a:solidFill>
                  <a:srgbClr val="202730"/>
                </a:solidFill>
                <a:latin typeface="Aptos"/>
              </a:rPr>
            </a:br>
            <a:r>
              <a:rPr sz="1500" b="0">
                <a:solidFill>
                  <a:srgbClr val="202730"/>
                </a:solidFill>
                <a:latin typeface="Aptos"/>
              </a:rPr>
              <a:t>Consistency</a:t>
            </a:r>
            <a:br>
              <a:rPr sz="1500" b="0">
                <a:solidFill>
                  <a:srgbClr val="202730"/>
                </a:solidFill>
                <a:latin typeface="Aptos"/>
              </a:rPr>
            </a:br>
            <a:r>
              <a:rPr sz="1500" b="0">
                <a:solidFill>
                  <a:srgbClr val="202730"/>
                </a:solidFill>
                <a:latin typeface="Aptos"/>
              </a:rPr>
              <a:t>Validity</a:t>
            </a:r>
            <a:br>
              <a:rPr sz="1500" b="0">
                <a:solidFill>
                  <a:srgbClr val="202730"/>
                </a:solidFill>
                <a:latin typeface="Aptos"/>
              </a:rPr>
            </a:br>
            <a:r>
              <a:rPr sz="1500" b="0">
                <a:solidFill>
                  <a:srgbClr val="202730"/>
                </a:solidFill>
                <a:latin typeface="Aptos"/>
              </a:rPr>
              <a:t>Relevance</a:t>
            </a:r>
            <a:br>
              <a:rPr sz="1500" b="0">
                <a:solidFill>
                  <a:srgbClr val="202730"/>
                </a:solidFill>
                <a:latin typeface="Aptos"/>
              </a:rPr>
            </a:br>
            <a:r>
              <a:rPr sz="1500" b="0">
                <a:solidFill>
                  <a:srgbClr val="202730"/>
                </a:solidFill>
                <a:latin typeface="Aptos"/>
              </a:rPr>
              <a:t>Timeliness</a:t>
            </a:r>
            <a:br>
              <a:rPr sz="1500" b="0">
                <a:solidFill>
                  <a:srgbClr val="202730"/>
                </a:solidFill>
                <a:latin typeface="Aptos"/>
              </a:rPr>
            </a:br>
            <a:r>
              <a:rPr sz="1500" b="0">
                <a:solidFill>
                  <a:srgbClr val="202730"/>
                </a:solidFill>
                <a:latin typeface="Aptos"/>
              </a:rPr>
              <a:t>Integrity</a:t>
            </a:r>
            <a:br>
              <a:rPr sz="1500" b="0">
                <a:solidFill>
                  <a:srgbClr val="202730"/>
                </a:solidFill>
                <a:latin typeface="Aptos"/>
              </a:rPr>
            </a:br>
            <a:r>
              <a:rPr sz="1500" b="0">
                <a:solidFill>
                  <a:srgbClr val="202730"/>
                </a:solidFill>
                <a:latin typeface="Aptos"/>
              </a:rPr>
              <a:t>Accessibility</a:t>
            </a:r>
            <a:endParaRPr sz="1500" b="0">
              <a:solidFill>
                <a:srgbClr val="202730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251960" y="1645920"/>
            <a:ext cx="3337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645920"/>
            <a:ext cx="73152" cy="4526280"/>
          </a:xfrm>
          <a:prstGeom prst="rect">
            <a:avLst/>
          </a:prstGeom>
          <a:solidFill>
            <a:srgbClr val="2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810512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43C"/>
                </a:solidFill>
                <a:latin typeface="Aptos"/>
              </a:rPr>
              <a:t>DEFINED RULES</a:t>
            </a:r>
            <a:endParaRPr sz="1500" b="1">
              <a:solidFill>
                <a:srgbClr val="14243C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80560" y="2212848"/>
            <a:ext cx="2926079" cy="381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02730"/>
                </a:solidFill>
                <a:latin typeface="Aptos"/>
              </a:rPr>
              <a:t>Valid email structure</a:t>
            </a:r>
            <a:br>
              <a:rPr sz="1400" b="0">
                <a:solidFill>
                  <a:srgbClr val="202730"/>
                </a:solidFill>
                <a:latin typeface="Aptos"/>
              </a:rPr>
            </a:br>
            <a:r>
              <a:rPr sz="1400" b="0">
                <a:solidFill>
                  <a:srgbClr val="202730"/>
                </a:solidFill>
                <a:latin typeface="Aptos"/>
              </a:rPr>
              <a:t>Supported upload formats only</a:t>
            </a:r>
            <a:br>
              <a:rPr sz="1400" b="0">
                <a:solidFill>
                  <a:srgbClr val="202730"/>
                </a:solidFill>
                <a:latin typeface="Aptos"/>
              </a:rPr>
            </a:br>
            <a:r>
              <a:rPr sz="1400" b="0">
                <a:solidFill>
                  <a:srgbClr val="202730"/>
                </a:solidFill>
                <a:latin typeface="Aptos"/>
              </a:rPr>
              <a:t>10 MB maximum file size</a:t>
            </a:r>
            <a:br>
              <a:rPr sz="1400" b="0">
                <a:solidFill>
                  <a:srgbClr val="202730"/>
                </a:solidFill>
                <a:latin typeface="Aptos"/>
              </a:rPr>
            </a:br>
            <a:r>
              <a:rPr sz="1400" b="0">
                <a:solidFill>
                  <a:srgbClr val="202730"/>
                </a:solidFill>
                <a:latin typeface="Aptos"/>
              </a:rPr>
              <a:t>Mandatory fields completed</a:t>
            </a:r>
            <a:br>
              <a:rPr sz="1400" b="0">
                <a:solidFill>
                  <a:srgbClr val="202730"/>
                </a:solidFill>
                <a:latin typeface="Aptos"/>
              </a:rPr>
            </a:br>
            <a:r>
              <a:rPr sz="1400" b="0">
                <a:solidFill>
                  <a:srgbClr val="202730"/>
                </a:solidFill>
                <a:latin typeface="Aptos"/>
              </a:rPr>
              <a:t>Authentication before uploads</a:t>
            </a:r>
            <a:br>
              <a:rPr sz="1400" b="0">
                <a:solidFill>
                  <a:srgbClr val="202730"/>
                </a:solidFill>
                <a:latin typeface="Aptos"/>
              </a:rPr>
            </a:br>
            <a:r>
              <a:rPr sz="1400" b="0">
                <a:solidFill>
                  <a:srgbClr val="202730"/>
                </a:solidFill>
                <a:latin typeface="Aptos"/>
              </a:rPr>
              <a:t>Invalid/malicious payload rejection</a:t>
            </a:r>
            <a:endParaRPr sz="1400" b="0">
              <a:solidFill>
                <a:srgbClr val="202730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863840" y="1645920"/>
            <a:ext cx="36576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0" y="1645920"/>
            <a:ext cx="73152" cy="4526280"/>
          </a:xfrm>
          <a:prstGeom prst="rect">
            <a:avLst/>
          </a:prstGeom>
          <a:solidFill>
            <a:srgbClr val="2A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1810512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43C"/>
                </a:solidFill>
                <a:latin typeface="Aptos"/>
              </a:rPr>
              <a:t>REVIEW FINDING → ACTION</a:t>
            </a:r>
            <a:endParaRPr sz="1500" b="1">
              <a:solidFill>
                <a:srgbClr val="14243C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092440" y="2212848"/>
            <a:ext cx="3246120" cy="381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02730"/>
                </a:solidFill>
                <a:latin typeface="Aptos"/>
              </a:rPr>
              <a:t>Testing found some fields accepted values that did not match expected data types or formats.</a:t>
            </a:r>
            <a:br>
              <a:rPr sz="1300" b="0">
                <a:solidFill>
                  <a:srgbClr val="202730"/>
                </a:solidFill>
                <a:latin typeface="Aptos"/>
              </a:rPr>
            </a:br>
            <a:br>
              <a:rPr sz="1300" b="0">
                <a:solidFill>
                  <a:srgbClr val="202730"/>
                </a:solidFill>
                <a:latin typeface="Aptos"/>
              </a:rPr>
            </a:br>
            <a:r>
              <a:rPr sz="1300" b="0">
                <a:solidFill>
                  <a:srgbClr val="202730"/>
                </a:solidFill>
                <a:latin typeface="Aptos"/>
              </a:rPr>
              <a:t>Risk: inaccurate or unreliable data affecting profiles, reporting, analytics and downstream processing.</a:t>
            </a:r>
            <a:br>
              <a:rPr sz="1300" b="0">
                <a:solidFill>
                  <a:srgbClr val="202730"/>
                </a:solidFill>
                <a:latin typeface="Aptos"/>
              </a:rPr>
            </a:br>
            <a:br>
              <a:rPr sz="1300" b="0">
                <a:solidFill>
                  <a:srgbClr val="202730"/>
                </a:solidFill>
                <a:latin typeface="Aptos"/>
              </a:rPr>
            </a:br>
            <a:r>
              <a:rPr sz="1300" b="0">
                <a:solidFill>
                  <a:srgbClr val="202730"/>
                </a:solidFill>
                <a:latin typeface="Aptos"/>
              </a:rPr>
              <a:t>Recommendation: strengthen field-level validation, format/length rules and error messaging.</a:t>
            </a:r>
            <a:endParaRPr sz="1300" b="0">
              <a:solidFill>
                <a:srgbClr val="20273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243C"/>
                </a:solidFill>
                <a:latin typeface="Aptos"/>
              </a:rPr>
              <a:t>5. Governance review: findings &amp; recommendations</a:t>
            </a:r>
            <a:endParaRPr sz="2800" b="1">
              <a:solidFill>
                <a:srgbClr val="14243C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672"/>
                </a:solidFill>
                <a:latin typeface="Aptos"/>
              </a:rPr>
              <a:t>End-to-end user journey review before final governance sign-off</a:t>
            </a:r>
            <a:endParaRPr sz="1100" b="0">
              <a:solidFill>
                <a:srgbClr val="5B6672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1143000" cy="45720"/>
          </a:xfrm>
          <a:prstGeom prst="rect">
            <a:avLst/>
          </a:prstGeom>
          <a:solidFill>
            <a:srgbClr val="2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5B6672"/>
                </a:solidFill>
                <a:latin typeface="Aptos"/>
              </a:rPr>
              <a:t>PRIORITY</a:t>
            </a:r>
            <a:endParaRPr sz="1000" b="1">
              <a:solidFill>
                <a:srgbClr val="5B6672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00200" y="1481328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5B6672"/>
                </a:solidFill>
                <a:latin typeface="Aptos"/>
              </a:rPr>
              <a:t>FINDING</a:t>
            </a:r>
            <a:endParaRPr sz="1000" b="1">
              <a:solidFill>
                <a:srgbClr val="5B6672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17920" y="1481328"/>
            <a:ext cx="525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5B6672"/>
                </a:solidFill>
                <a:latin typeface="Aptos"/>
              </a:rPr>
              <a:t>RECOMMENDATION</a:t>
            </a:r>
            <a:endParaRPr sz="1000" b="1">
              <a:solidFill>
                <a:srgbClr val="5B6672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777240" cy="612648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554480" y="1783080"/>
            <a:ext cx="4434840" cy="612648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6480" y="1783080"/>
            <a:ext cx="5394960" cy="612648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94767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A5D8C"/>
                </a:solidFill>
                <a:latin typeface="Aptos"/>
              </a:rPr>
              <a:t>HIGH</a:t>
            </a:r>
            <a:endParaRPr sz="1000" b="1">
              <a:solidFill>
                <a:srgbClr val="2A5D8C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737360" y="1892807"/>
            <a:ext cx="4069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02730"/>
                </a:solidFill>
                <a:latin typeface="Aptos"/>
              </a:rPr>
              <a:t>Privacy information not observed before personal data collection</a:t>
            </a:r>
            <a:endParaRPr sz="1000" b="0">
              <a:solidFill>
                <a:srgbClr val="202730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09360" y="1892807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02730"/>
                </a:solidFill>
                <a:latin typeface="Aptos"/>
              </a:rPr>
              <a:t>Display Privacy Notice / Terms before or at registration</a:t>
            </a:r>
            <a:endParaRPr sz="1000" b="0">
              <a:solidFill>
                <a:srgbClr val="202730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0080" y="2496312"/>
            <a:ext cx="777240" cy="612648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554480" y="2496312"/>
            <a:ext cx="4434840" cy="612648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26480" y="2496312"/>
            <a:ext cx="5394960" cy="612648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2660904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A5D8C"/>
                </a:solidFill>
                <a:latin typeface="Aptos"/>
              </a:rPr>
              <a:t>HIGH</a:t>
            </a:r>
            <a:endParaRPr sz="1000" b="1">
              <a:solidFill>
                <a:srgbClr val="2A5D8C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737360" y="2606040"/>
            <a:ext cx="4069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02730"/>
                </a:solidFill>
                <a:latin typeface="Aptos"/>
              </a:rPr>
              <a:t>Resume processing lacked transparency</a:t>
            </a:r>
            <a:endParaRPr sz="1000" b="0">
              <a:solidFill>
                <a:srgbClr val="202730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0936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02730"/>
                </a:solidFill>
                <a:latin typeface="Aptos"/>
              </a:rPr>
              <a:t>Explain purpose, AI use, retention and deletion options</a:t>
            </a:r>
            <a:endParaRPr sz="1000" b="0">
              <a:solidFill>
                <a:srgbClr val="202730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40080" y="3209544"/>
            <a:ext cx="777240" cy="612648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554480" y="3209544"/>
            <a:ext cx="4434840" cy="612648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26480" y="3209544"/>
            <a:ext cx="5394960" cy="612648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3374136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A5D8C"/>
                </a:solidFill>
                <a:latin typeface="Aptos"/>
              </a:rPr>
              <a:t>HIGH</a:t>
            </a:r>
            <a:endParaRPr sz="1000" b="1">
              <a:solidFill>
                <a:srgbClr val="2A5D8C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737360" y="3319272"/>
            <a:ext cx="4069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02730"/>
                </a:solidFill>
                <a:latin typeface="Aptos"/>
              </a:rPr>
              <a:t>Email verification not enforced during testing</a:t>
            </a:r>
            <a:endParaRPr sz="1000" b="0">
              <a:solidFill>
                <a:srgbClr val="202730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309360" y="33192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02730"/>
                </a:solidFill>
                <a:latin typeface="Aptos"/>
              </a:rPr>
              <a:t>Implement mandatory email ownership verification</a:t>
            </a:r>
            <a:endParaRPr sz="1000" b="0">
              <a:solidFill>
                <a:srgbClr val="202730"/>
              </a:solidFill>
              <a:latin typeface="Apto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40080" y="3922776"/>
            <a:ext cx="777240" cy="612648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554480" y="3922776"/>
            <a:ext cx="4434840" cy="612648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126480" y="3922776"/>
            <a:ext cx="5394960" cy="612648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" y="408736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C7D7D"/>
                </a:solidFill>
                <a:latin typeface="Aptos"/>
              </a:rPr>
              <a:t>MED</a:t>
            </a:r>
            <a:endParaRPr sz="1000" b="1">
              <a:solidFill>
                <a:srgbClr val="2C7D7D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737360" y="4032504"/>
            <a:ext cx="4069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02730"/>
                </a:solidFill>
                <a:latin typeface="Aptos"/>
              </a:rPr>
              <a:t>No cookie consent banner observed</a:t>
            </a:r>
            <a:endParaRPr sz="1000" b="0">
              <a:solidFill>
                <a:srgbClr val="202730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309360" y="403250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02730"/>
                </a:solidFill>
                <a:latin typeface="Aptos"/>
              </a:rPr>
              <a:t>Confirm cookie use and add consent where non-essential</a:t>
            </a:r>
            <a:endParaRPr sz="1000" b="0">
              <a:solidFill>
                <a:srgbClr val="202730"/>
              </a:solidFill>
              <a:latin typeface="Aptos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40080" y="4636008"/>
            <a:ext cx="777240" cy="612648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554480" y="4636008"/>
            <a:ext cx="4434840" cy="612648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26480" y="4636008"/>
            <a:ext cx="5394960" cy="612648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8952" y="480060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A5D8C"/>
                </a:solidFill>
                <a:latin typeface="Aptos"/>
              </a:rPr>
              <a:t>HIGH</a:t>
            </a:r>
            <a:endParaRPr sz="1000" b="1">
              <a:solidFill>
                <a:srgbClr val="2A5D8C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737360" y="4745736"/>
            <a:ext cx="4069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02730"/>
                </a:solidFill>
                <a:latin typeface="Aptos"/>
              </a:rPr>
              <a:t>Weak validation in some input fields</a:t>
            </a:r>
            <a:endParaRPr sz="1000" b="0">
              <a:solidFill>
                <a:srgbClr val="202730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309360" y="474573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02730"/>
                </a:solidFill>
                <a:latin typeface="Aptos"/>
              </a:rPr>
              <a:t>Strengthen data type, format, mandatory and length validation</a:t>
            </a:r>
            <a:endParaRPr sz="1000" b="0">
              <a:solidFill>
                <a:srgbClr val="202730"/>
              </a:solidFill>
              <a:latin typeface="Aptos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40080" y="5349240"/>
            <a:ext cx="777240" cy="612648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554480" y="5349240"/>
            <a:ext cx="4434840" cy="612648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126480" y="5349240"/>
            <a:ext cx="5394960" cy="612648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8952" y="551383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C7D7D"/>
                </a:solidFill>
                <a:latin typeface="Aptos"/>
              </a:rPr>
              <a:t>MED</a:t>
            </a:r>
            <a:endParaRPr sz="1000" b="1">
              <a:solidFill>
                <a:srgbClr val="2C7D7D"/>
              </a:solidFill>
              <a:latin typeface="Apto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737360" y="5458968"/>
            <a:ext cx="4069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02730"/>
                </a:solidFill>
                <a:latin typeface="Aptos"/>
              </a:rPr>
              <a:t>Google authentication did not work as expected</a:t>
            </a:r>
            <a:endParaRPr sz="1000" b="0">
              <a:solidFill>
                <a:srgbClr val="202730"/>
              </a:solidFill>
              <a:latin typeface="Apto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309360" y="545896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02730"/>
                </a:solidFill>
                <a:latin typeface="Aptos"/>
              </a:rPr>
              <a:t>Confirm release intent and resolve/test integration if active</a:t>
            </a:r>
            <a:endParaRPr sz="1000" b="0">
              <a:solidFill>
                <a:srgbClr val="202730"/>
              </a:solidFill>
              <a:latin typeface="Apto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58368" y="61447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4243C"/>
                </a:solidFill>
                <a:latin typeface="Aptos"/>
              </a:rPr>
              <a:t>Review approach: end-to-end user journey walkthrough, governance assessment, documented findings, recommendations and implementation assurance requests.</a:t>
            </a:r>
            <a:endParaRPr sz="1000" b="1">
              <a:solidFill>
                <a:srgbClr val="14243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243C"/>
                </a:solidFill>
                <a:latin typeface="Aptos"/>
              </a:rPr>
              <a:t>6. Architecture-to-governance mapping</a:t>
            </a:r>
            <a:endParaRPr sz="2800" b="1">
              <a:solidFill>
                <a:srgbClr val="14243C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672"/>
                </a:solidFill>
                <a:latin typeface="Aptos"/>
              </a:rPr>
              <a:t>Connecting platform components to governance risks and controls</a:t>
            </a:r>
            <a:endParaRPr sz="1100" b="0">
              <a:solidFill>
                <a:srgbClr val="5B6672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1143000" cy="45720"/>
          </a:xfrm>
          <a:prstGeom prst="rect">
            <a:avLst/>
          </a:prstGeom>
          <a:solidFill>
            <a:srgbClr val="2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4475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B6672"/>
                </a:solidFill>
                <a:latin typeface="Aptos"/>
              </a:rPr>
              <a:t>PLATFORM / COMPONENT</a:t>
            </a:r>
            <a:endParaRPr sz="1100" b="1">
              <a:solidFill>
                <a:srgbClr val="5B6672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977639" y="144475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B6672"/>
                </a:solidFill>
                <a:latin typeface="Aptos"/>
              </a:rPr>
              <a:t>GOVERNANCE RISK</a:t>
            </a:r>
            <a:endParaRPr sz="1100" b="1">
              <a:solidFill>
                <a:srgbClr val="5B6672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086600" y="144475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B6672"/>
                </a:solidFill>
                <a:latin typeface="Aptos"/>
              </a:rPr>
              <a:t>GOVERNANCE RESPONSE</a:t>
            </a:r>
            <a:endParaRPr sz="1100" b="1">
              <a:solidFill>
                <a:srgbClr val="5B6672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31546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73152" cy="713232"/>
          </a:xfrm>
          <a:prstGeom prst="rect">
            <a:avLst/>
          </a:prstGeom>
          <a:solidFill>
            <a:srgbClr val="2A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019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</p:txBody>
      </p:sp>
      <p:sp>
        <p:nvSpPr>
          <p:cNvPr id="12" name="TextBox 11"/>
          <p:cNvSpPr txBox="1"/>
          <p:nvPr/>
        </p:nvSpPr>
        <p:spPr>
          <a:xfrm>
            <a:off x="868680" y="2304288"/>
            <a:ext cx="27432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02730"/>
                </a:solidFill>
                <a:latin typeface="Aptos"/>
              </a:rPr>
              <a:t>PostgreSQL / persistent profiles</a:t>
            </a:r>
            <a:endParaRPr sz="1100" b="0">
              <a:solidFill>
                <a:srgbClr val="202730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931920" y="1737360"/>
            <a:ext cx="2971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1920" y="1737360"/>
            <a:ext cx="73152" cy="713232"/>
          </a:xfrm>
          <a:prstGeom prst="rect">
            <a:avLst/>
          </a:prstGeom>
          <a:solidFill>
            <a:srgbClr val="2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0520" y="19019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</p:txBody>
      </p:sp>
      <p:sp>
        <p:nvSpPr>
          <p:cNvPr id="16" name="TextBox 15"/>
          <p:cNvSpPr txBox="1"/>
          <p:nvPr/>
        </p:nvSpPr>
        <p:spPr>
          <a:xfrm>
            <a:off x="4160520" y="2304288"/>
            <a:ext cx="256032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02730"/>
                </a:solidFill>
                <a:latin typeface="Aptos"/>
              </a:rPr>
              <a:t>Stored personal data</a:t>
            </a:r>
            <a:endParaRPr sz="1100" b="0">
              <a:solidFill>
                <a:srgbClr val="202730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040880" y="1737360"/>
            <a:ext cx="44805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0880" y="1737360"/>
            <a:ext cx="73152" cy="713232"/>
          </a:xfrm>
          <a:prstGeom prst="rect">
            <a:avLst/>
          </a:prstGeom>
          <a:solidFill>
            <a:srgbClr val="2A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9480" y="1901952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</p:txBody>
      </p:sp>
      <p:sp>
        <p:nvSpPr>
          <p:cNvPr id="20" name="TextBox 19"/>
          <p:cNvSpPr txBox="1"/>
          <p:nvPr/>
        </p:nvSpPr>
        <p:spPr>
          <a:xfrm>
            <a:off x="7269480" y="2304288"/>
            <a:ext cx="406908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02730"/>
                </a:solidFill>
                <a:latin typeface="Aptos"/>
              </a:rPr>
              <a:t>Classification, access, lifecycle, retention &amp; deletion</a:t>
            </a:r>
            <a:endParaRPr sz="1100" b="0">
              <a:solidFill>
                <a:srgbClr val="202730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40080" y="2596896"/>
            <a:ext cx="31546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2596896"/>
            <a:ext cx="73152" cy="713232"/>
          </a:xfrm>
          <a:prstGeom prst="rect">
            <a:avLst/>
          </a:prstGeom>
          <a:solidFill>
            <a:srgbClr val="2A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27614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</p:txBody>
      </p:sp>
      <p:sp>
        <p:nvSpPr>
          <p:cNvPr id="24" name="TextBox 23"/>
          <p:cNvSpPr txBox="1"/>
          <p:nvPr/>
        </p:nvSpPr>
        <p:spPr>
          <a:xfrm>
            <a:off x="868680" y="3163824"/>
            <a:ext cx="27432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02730"/>
                </a:solidFill>
                <a:latin typeface="Aptos"/>
              </a:rPr>
              <a:t>Private S3 resume storage</a:t>
            </a:r>
            <a:endParaRPr sz="1100" b="0">
              <a:solidFill>
                <a:srgbClr val="202730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3931920" y="2596896"/>
            <a:ext cx="2971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931920" y="2596896"/>
            <a:ext cx="73152" cy="713232"/>
          </a:xfrm>
          <a:prstGeom prst="rect">
            <a:avLst/>
          </a:prstGeom>
          <a:solidFill>
            <a:srgbClr val="2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60520" y="27614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</p:txBody>
      </p:sp>
      <p:sp>
        <p:nvSpPr>
          <p:cNvPr id="28" name="TextBox 27"/>
          <p:cNvSpPr txBox="1"/>
          <p:nvPr/>
        </p:nvSpPr>
        <p:spPr>
          <a:xfrm>
            <a:off x="4160520" y="3163824"/>
            <a:ext cx="256032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02730"/>
                </a:solidFill>
                <a:latin typeface="Aptos"/>
              </a:rPr>
              <a:t>CV / PII exposure</a:t>
            </a:r>
            <a:endParaRPr sz="1100" b="0">
              <a:solidFill>
                <a:srgbClr val="202730"/>
              </a:solidFill>
              <a:latin typeface="Apto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040880" y="2596896"/>
            <a:ext cx="44805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40880" y="2596896"/>
            <a:ext cx="73152" cy="713232"/>
          </a:xfrm>
          <a:prstGeom prst="rect">
            <a:avLst/>
          </a:prstGeom>
          <a:solidFill>
            <a:srgbClr val="2A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69480" y="2761488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</p:txBody>
      </p:sp>
      <p:sp>
        <p:nvSpPr>
          <p:cNvPr id="32" name="TextBox 31"/>
          <p:cNvSpPr txBox="1"/>
          <p:nvPr/>
        </p:nvSpPr>
        <p:spPr>
          <a:xfrm>
            <a:off x="7269480" y="3163824"/>
            <a:ext cx="406908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02730"/>
                </a:solidFill>
                <a:latin typeface="Aptos"/>
              </a:rPr>
              <a:t>Restricted access, private storage, controlled file access</a:t>
            </a:r>
            <a:endParaRPr sz="1100" b="0">
              <a:solidFill>
                <a:srgbClr val="202730"/>
              </a:solidFill>
              <a:latin typeface="Aptos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40080" y="3456432"/>
            <a:ext cx="31546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3456432"/>
            <a:ext cx="73152" cy="713232"/>
          </a:xfrm>
          <a:prstGeom prst="rect">
            <a:avLst/>
          </a:prstGeom>
          <a:solidFill>
            <a:srgbClr val="2A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362102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</p:txBody>
      </p:sp>
      <p:sp>
        <p:nvSpPr>
          <p:cNvPr id="36" name="TextBox 35"/>
          <p:cNvSpPr txBox="1"/>
          <p:nvPr/>
        </p:nvSpPr>
        <p:spPr>
          <a:xfrm>
            <a:off x="868680" y="4023359"/>
            <a:ext cx="27432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02730"/>
                </a:solidFill>
                <a:latin typeface="Aptos"/>
              </a:rPr>
              <a:t>JWT + RBAC + bcrypt</a:t>
            </a:r>
            <a:endParaRPr sz="1100" b="0">
              <a:solidFill>
                <a:srgbClr val="202730"/>
              </a:solidFill>
              <a:latin typeface="Aptos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3931920" y="3456432"/>
            <a:ext cx="2971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31920" y="3456432"/>
            <a:ext cx="73152" cy="713232"/>
          </a:xfrm>
          <a:prstGeom prst="rect">
            <a:avLst/>
          </a:prstGeom>
          <a:solidFill>
            <a:srgbClr val="2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60520" y="362102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</p:txBody>
      </p:sp>
      <p:sp>
        <p:nvSpPr>
          <p:cNvPr id="40" name="TextBox 39"/>
          <p:cNvSpPr txBox="1"/>
          <p:nvPr/>
        </p:nvSpPr>
        <p:spPr>
          <a:xfrm>
            <a:off x="4160520" y="4023359"/>
            <a:ext cx="256032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02730"/>
                </a:solidFill>
                <a:latin typeface="Aptos"/>
              </a:rPr>
              <a:t>Account &amp; access risk</a:t>
            </a:r>
            <a:endParaRPr sz="1100" b="0">
              <a:solidFill>
                <a:srgbClr val="202730"/>
              </a:solidFill>
              <a:latin typeface="Aptos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7040880" y="3456432"/>
            <a:ext cx="44805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040880" y="3456432"/>
            <a:ext cx="73152" cy="713232"/>
          </a:xfrm>
          <a:prstGeom prst="rect">
            <a:avLst/>
          </a:prstGeom>
          <a:solidFill>
            <a:srgbClr val="2A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69480" y="3621024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</p:txBody>
      </p:sp>
      <p:sp>
        <p:nvSpPr>
          <p:cNvPr id="44" name="TextBox 43"/>
          <p:cNvSpPr txBox="1"/>
          <p:nvPr/>
        </p:nvSpPr>
        <p:spPr>
          <a:xfrm>
            <a:off x="7269480" y="4023359"/>
            <a:ext cx="406908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02730"/>
                </a:solidFill>
                <a:latin typeface="Aptos"/>
              </a:rPr>
              <a:t>Authentication, authorisation, least-privilege expectations</a:t>
            </a:r>
            <a:endParaRPr sz="1100" b="0">
              <a:solidFill>
                <a:srgbClr val="202730"/>
              </a:solidFill>
              <a:latin typeface="Aptos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640080" y="4315968"/>
            <a:ext cx="31546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0080" y="4315968"/>
            <a:ext cx="73152" cy="713232"/>
          </a:xfrm>
          <a:prstGeom prst="rect">
            <a:avLst/>
          </a:prstGeom>
          <a:solidFill>
            <a:srgbClr val="2A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8680" y="448055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</p:txBody>
      </p:sp>
      <p:sp>
        <p:nvSpPr>
          <p:cNvPr id="48" name="TextBox 47"/>
          <p:cNvSpPr txBox="1"/>
          <p:nvPr/>
        </p:nvSpPr>
        <p:spPr>
          <a:xfrm>
            <a:off x="868680" y="4882896"/>
            <a:ext cx="27432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02730"/>
                </a:solidFill>
                <a:latin typeface="Aptos"/>
              </a:rPr>
              <a:t>OpenAI LLM processing</a:t>
            </a:r>
            <a:endParaRPr sz="1100" b="0">
              <a:solidFill>
                <a:srgbClr val="202730"/>
              </a:solidFill>
              <a:latin typeface="Aptos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3931920" y="4315968"/>
            <a:ext cx="2971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931920" y="4315968"/>
            <a:ext cx="73152" cy="713232"/>
          </a:xfrm>
          <a:prstGeom prst="rect">
            <a:avLst/>
          </a:prstGeom>
          <a:solidFill>
            <a:srgbClr val="2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60520" y="448055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</p:txBody>
      </p:sp>
      <p:sp>
        <p:nvSpPr>
          <p:cNvPr id="52" name="TextBox 51"/>
          <p:cNvSpPr txBox="1"/>
          <p:nvPr/>
        </p:nvSpPr>
        <p:spPr>
          <a:xfrm>
            <a:off x="4160520" y="4882896"/>
            <a:ext cx="256032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02730"/>
                </a:solidFill>
                <a:latin typeface="Aptos"/>
              </a:rPr>
              <a:t>Privacy / AI transparency</a:t>
            </a:r>
            <a:endParaRPr sz="1100" b="0">
              <a:solidFill>
                <a:srgbClr val="202730"/>
              </a:solidFill>
              <a:latin typeface="Aptos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7040880" y="4315968"/>
            <a:ext cx="44805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040880" y="4315968"/>
            <a:ext cx="73152" cy="713232"/>
          </a:xfrm>
          <a:prstGeom prst="rect">
            <a:avLst/>
          </a:prstGeom>
          <a:solidFill>
            <a:srgbClr val="2A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269480" y="4480559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</p:txBody>
      </p:sp>
      <p:sp>
        <p:nvSpPr>
          <p:cNvPr id="56" name="TextBox 55"/>
          <p:cNvSpPr txBox="1"/>
          <p:nvPr/>
        </p:nvSpPr>
        <p:spPr>
          <a:xfrm>
            <a:off x="7269480" y="4882896"/>
            <a:ext cx="406908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02730"/>
                </a:solidFill>
                <a:latin typeface="Aptos"/>
              </a:rPr>
              <a:t>Approved provider, processing transparency, governance oversight</a:t>
            </a:r>
            <a:endParaRPr sz="1100" b="0">
              <a:solidFill>
                <a:srgbClr val="202730"/>
              </a:solidFill>
              <a:latin typeface="Aptos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640080" y="5175504"/>
            <a:ext cx="31546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40080" y="5175504"/>
            <a:ext cx="73152" cy="713232"/>
          </a:xfrm>
          <a:prstGeom prst="rect">
            <a:avLst/>
          </a:prstGeom>
          <a:solidFill>
            <a:srgbClr val="2A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8680" y="534009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</p:txBody>
      </p:sp>
      <p:sp>
        <p:nvSpPr>
          <p:cNvPr id="60" name="TextBox 59"/>
          <p:cNvSpPr txBox="1"/>
          <p:nvPr/>
        </p:nvSpPr>
        <p:spPr>
          <a:xfrm>
            <a:off x="868680" y="5742432"/>
            <a:ext cx="27432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02730"/>
                </a:solidFill>
                <a:latin typeface="Aptos"/>
              </a:rPr>
              <a:t>CloudWatch / application logs</a:t>
            </a:r>
            <a:endParaRPr sz="1100" b="0">
              <a:solidFill>
                <a:srgbClr val="202730"/>
              </a:solidFill>
              <a:latin typeface="Aptos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3931920" y="5175504"/>
            <a:ext cx="2971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931920" y="5175504"/>
            <a:ext cx="73152" cy="713232"/>
          </a:xfrm>
          <a:prstGeom prst="rect">
            <a:avLst/>
          </a:prstGeom>
          <a:solidFill>
            <a:srgbClr val="2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60520" y="534009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</p:txBody>
      </p:sp>
      <p:sp>
        <p:nvSpPr>
          <p:cNvPr id="64" name="TextBox 63"/>
          <p:cNvSpPr txBox="1"/>
          <p:nvPr/>
        </p:nvSpPr>
        <p:spPr>
          <a:xfrm>
            <a:off x="4160520" y="5742432"/>
            <a:ext cx="256032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02730"/>
                </a:solidFill>
                <a:latin typeface="Aptos"/>
              </a:rPr>
              <a:t>Sensitive log exposure</a:t>
            </a:r>
            <a:endParaRPr sz="1100" b="0">
              <a:solidFill>
                <a:srgbClr val="202730"/>
              </a:solidFill>
              <a:latin typeface="Aptos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7040880" y="5175504"/>
            <a:ext cx="44805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040880" y="5175504"/>
            <a:ext cx="73152" cy="713232"/>
          </a:xfrm>
          <a:prstGeom prst="rect">
            <a:avLst/>
          </a:prstGeom>
          <a:solidFill>
            <a:srgbClr val="2A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69480" y="5340096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</p:txBody>
      </p:sp>
      <p:sp>
        <p:nvSpPr>
          <p:cNvPr id="68" name="TextBox 67"/>
          <p:cNvSpPr txBox="1"/>
          <p:nvPr/>
        </p:nvSpPr>
        <p:spPr>
          <a:xfrm>
            <a:off x="7269480" y="5742432"/>
            <a:ext cx="406908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02730"/>
                </a:solidFill>
                <a:latin typeface="Aptos"/>
              </a:rPr>
              <a:t>Restricted monitoring, audit visibility, limited retention</a:t>
            </a:r>
            <a:endParaRPr sz="1100" b="0">
              <a:solidFill>
                <a:srgbClr val="202730"/>
              </a:solidFill>
              <a:latin typeface="Aptos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58368" y="61447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243C"/>
                </a:solidFill>
                <a:latin typeface="Aptos"/>
              </a:rPr>
              <a:t>Important: the Governance team defined/reviewed controls and requested assurance; Engineering owned technical implementation.</a:t>
            </a:r>
            <a:endParaRPr sz="1100" b="1">
              <a:solidFill>
                <a:srgbClr val="14243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243C"/>
                </a:solidFill>
                <a:latin typeface="Aptos"/>
              </a:rPr>
              <a:t>7. Assurance, value delivered &amp; lessons</a:t>
            </a:r>
            <a:endParaRPr sz="2800" b="1">
              <a:solidFill>
                <a:srgbClr val="14243C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672"/>
                </a:solidFill>
                <a:latin typeface="Aptos"/>
              </a:rPr>
              <a:t>What the project demonstrates about my practical Data Governance capability</a:t>
            </a:r>
            <a:endParaRPr sz="1100" b="0">
              <a:solidFill>
                <a:srgbClr val="5B6672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1143000" cy="45720"/>
          </a:xfrm>
          <a:prstGeom prst="rect">
            <a:avLst/>
          </a:prstGeom>
          <a:solidFill>
            <a:srgbClr val="2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64208"/>
            <a:ext cx="34290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64208"/>
            <a:ext cx="73152" cy="4389120"/>
          </a:xfrm>
          <a:prstGeom prst="rect">
            <a:avLst/>
          </a:prstGeom>
          <a:solidFill>
            <a:srgbClr val="2A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43C"/>
                </a:solidFill>
                <a:latin typeface="Aptos"/>
              </a:rPr>
              <a:t>ASSURANCE REQUESTED</a:t>
            </a:r>
            <a:endParaRPr sz="1500" b="1">
              <a:solidFill>
                <a:srgbClr val="14243C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2231136"/>
            <a:ext cx="3017520" cy="3675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02730"/>
                </a:solidFill>
                <a:latin typeface="Aptos"/>
              </a:rPr>
              <a:t>Implementation evidence was requested for:</a:t>
            </a:r>
            <a:br>
              <a:rPr sz="1400" b="0">
                <a:solidFill>
                  <a:srgbClr val="202730"/>
                </a:solidFill>
                <a:latin typeface="Aptos"/>
              </a:rPr>
            </a:br>
            <a:br>
              <a:rPr sz="1400" b="0">
                <a:solidFill>
                  <a:srgbClr val="202730"/>
                </a:solidFill>
                <a:latin typeface="Aptos"/>
              </a:rPr>
            </a:br>
            <a:r>
              <a:rPr sz="1400" b="0">
                <a:solidFill>
                  <a:srgbClr val="202730"/>
                </a:solidFill>
                <a:latin typeface="Aptos"/>
              </a:rPr>
              <a:t>• Governance artefacts</a:t>
            </a:r>
            <a:br>
              <a:rPr sz="1400" b="0">
                <a:solidFill>
                  <a:srgbClr val="202730"/>
                </a:solidFill>
                <a:latin typeface="Aptos"/>
              </a:rPr>
            </a:br>
            <a:r>
              <a:rPr sz="1400" b="0">
                <a:solidFill>
                  <a:srgbClr val="202730"/>
                </a:solidFill>
                <a:latin typeface="Aptos"/>
              </a:rPr>
              <a:t>• Encryption of uploaded resumes</a:t>
            </a:r>
            <a:br>
              <a:rPr sz="1400" b="0">
                <a:solidFill>
                  <a:srgbClr val="202730"/>
                </a:solidFill>
                <a:latin typeface="Aptos"/>
              </a:rPr>
            </a:br>
            <a:r>
              <a:rPr sz="1400" b="0">
                <a:solidFill>
                  <a:srgbClr val="202730"/>
                </a:solidFill>
                <a:latin typeface="Aptos"/>
              </a:rPr>
              <a:t>• Role-Based Access Control</a:t>
            </a:r>
            <a:br>
              <a:rPr sz="1400" b="0">
                <a:solidFill>
                  <a:srgbClr val="202730"/>
                </a:solidFill>
                <a:latin typeface="Aptos"/>
              </a:rPr>
            </a:br>
            <a:r>
              <a:rPr sz="1400" b="0">
                <a:solidFill>
                  <a:srgbClr val="202730"/>
                </a:solidFill>
                <a:latin typeface="Aptos"/>
              </a:rPr>
              <a:t>• Audit logging</a:t>
            </a:r>
            <a:br>
              <a:rPr sz="1400" b="0">
                <a:solidFill>
                  <a:srgbClr val="202730"/>
                </a:solidFill>
                <a:latin typeface="Aptos"/>
              </a:rPr>
            </a:br>
            <a:r>
              <a:rPr sz="1400" b="0">
                <a:solidFill>
                  <a:srgbClr val="202730"/>
                </a:solidFill>
                <a:latin typeface="Aptos"/>
              </a:rPr>
              <a:t>• Retention schedule</a:t>
            </a:r>
            <a:br>
              <a:rPr sz="1400" b="0">
                <a:solidFill>
                  <a:srgbClr val="202730"/>
                </a:solidFill>
                <a:latin typeface="Aptos"/>
              </a:rPr>
            </a:br>
            <a:r>
              <a:rPr sz="1400" b="0">
                <a:solidFill>
                  <a:srgbClr val="202730"/>
                </a:solidFill>
                <a:latin typeface="Aptos"/>
              </a:rPr>
              <a:t>• AI governance controls</a:t>
            </a:r>
            <a:endParaRPr sz="1400" b="0">
              <a:solidFill>
                <a:srgbClr val="202730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370832" y="1664208"/>
            <a:ext cx="34290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664208"/>
            <a:ext cx="73152" cy="4389120"/>
          </a:xfrm>
          <a:prstGeom prst="rect">
            <a:avLst/>
          </a:prstGeom>
          <a:solidFill>
            <a:srgbClr val="2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828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43C"/>
                </a:solidFill>
                <a:latin typeface="Aptos"/>
              </a:rPr>
              <a:t>VALUE DELIVERED</a:t>
            </a:r>
            <a:endParaRPr sz="1500" b="1">
              <a:solidFill>
                <a:srgbClr val="14243C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99432" y="2231136"/>
            <a:ext cx="3017520" cy="3675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02730"/>
                </a:solidFill>
                <a:latin typeface="Aptos"/>
              </a:rPr>
              <a:t>• Established a governance foundation</a:t>
            </a:r>
            <a:br>
              <a:rPr sz="1300" b="0">
                <a:solidFill>
                  <a:srgbClr val="202730"/>
                </a:solidFill>
                <a:latin typeface="Aptos"/>
              </a:rPr>
            </a:br>
            <a:r>
              <a:rPr sz="1300" b="0">
                <a:solidFill>
                  <a:srgbClr val="202730"/>
                </a:solidFill>
                <a:latin typeface="Aptos"/>
              </a:rPr>
              <a:t>• Identified material governance gaps</a:t>
            </a:r>
            <a:br>
              <a:rPr sz="1300" b="0">
                <a:solidFill>
                  <a:srgbClr val="202730"/>
                </a:solidFill>
                <a:latin typeface="Aptos"/>
              </a:rPr>
            </a:br>
            <a:r>
              <a:rPr sz="1300" b="0">
                <a:solidFill>
                  <a:srgbClr val="202730"/>
                </a:solidFill>
                <a:latin typeface="Aptos"/>
              </a:rPr>
              <a:t>• Connected DQ rules to platform validation</a:t>
            </a:r>
            <a:br>
              <a:rPr sz="1300" b="0">
                <a:solidFill>
                  <a:srgbClr val="202730"/>
                </a:solidFill>
                <a:latin typeface="Aptos"/>
              </a:rPr>
            </a:br>
            <a:r>
              <a:rPr sz="1300" b="0">
                <a:solidFill>
                  <a:srgbClr val="202730"/>
                </a:solidFill>
                <a:latin typeface="Aptos"/>
              </a:rPr>
              <a:t>• Strengthened privacy &amp; transparency recommendations</a:t>
            </a:r>
            <a:br>
              <a:rPr sz="1300" b="0">
                <a:solidFill>
                  <a:srgbClr val="202730"/>
                </a:solidFill>
                <a:latin typeface="Aptos"/>
              </a:rPr>
            </a:br>
            <a:r>
              <a:rPr sz="1300" b="0">
                <a:solidFill>
                  <a:srgbClr val="202730"/>
                </a:solidFill>
                <a:latin typeface="Aptos"/>
              </a:rPr>
              <a:t>• Supported Responsible AI governance</a:t>
            </a:r>
            <a:br>
              <a:rPr sz="1300" b="0">
                <a:solidFill>
                  <a:srgbClr val="202730"/>
                </a:solidFill>
                <a:latin typeface="Aptos"/>
              </a:rPr>
            </a:br>
            <a:r>
              <a:rPr sz="1300" b="0">
                <a:solidFill>
                  <a:srgbClr val="202730"/>
                </a:solidFill>
                <a:latin typeface="Aptos"/>
              </a:rPr>
              <a:t>• Created traceable recommendations for follow-up</a:t>
            </a:r>
            <a:endParaRPr sz="1300" b="0">
              <a:solidFill>
                <a:srgbClr val="202730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101583" y="1664208"/>
            <a:ext cx="34290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1583" y="1664208"/>
            <a:ext cx="73152" cy="4389120"/>
          </a:xfrm>
          <a:prstGeom prst="rect">
            <a:avLst/>
          </a:prstGeom>
          <a:solidFill>
            <a:srgbClr val="2A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3" y="1828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43C"/>
                </a:solidFill>
                <a:latin typeface="Aptos"/>
              </a:rPr>
              <a:t>LESSONS &amp; CAPABILITY</a:t>
            </a:r>
            <a:endParaRPr sz="1500" b="1">
              <a:solidFill>
                <a:srgbClr val="14243C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30183" y="2231136"/>
            <a:ext cx="3017520" cy="3675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02730"/>
                </a:solidFill>
                <a:latin typeface="Aptos"/>
              </a:rPr>
              <a:t>• Governance must evolve with architecture</a:t>
            </a:r>
            <a:br>
              <a:rPr sz="1300" b="0">
                <a:solidFill>
                  <a:srgbClr val="202730"/>
                </a:solidFill>
                <a:latin typeface="Aptos"/>
              </a:rPr>
            </a:br>
            <a:r>
              <a:rPr sz="1300" b="0">
                <a:solidFill>
                  <a:srgbClr val="202730"/>
                </a:solidFill>
                <a:latin typeface="Aptos"/>
              </a:rPr>
              <a:t>• Cross-functional collaboration is essential</a:t>
            </a:r>
            <a:br>
              <a:rPr sz="1300" b="0">
                <a:solidFill>
                  <a:srgbClr val="202730"/>
                </a:solidFill>
                <a:latin typeface="Aptos"/>
              </a:rPr>
            </a:br>
            <a:r>
              <a:rPr sz="1300" b="0">
                <a:solidFill>
                  <a:srgbClr val="202730"/>
                </a:solidFill>
                <a:latin typeface="Aptos"/>
              </a:rPr>
              <a:t>• Documentation supports accountability</a:t>
            </a:r>
            <a:br>
              <a:rPr sz="1300" b="0">
                <a:solidFill>
                  <a:srgbClr val="202730"/>
                </a:solidFill>
                <a:latin typeface="Aptos"/>
              </a:rPr>
            </a:br>
            <a:r>
              <a:rPr sz="1300" b="0">
                <a:solidFill>
                  <a:srgbClr val="202730"/>
                </a:solidFill>
                <a:latin typeface="Aptos"/>
              </a:rPr>
              <a:t>• Controls require implementation evidence</a:t>
            </a:r>
            <a:br>
              <a:rPr sz="1300" b="0">
                <a:solidFill>
                  <a:srgbClr val="202730"/>
                </a:solidFill>
                <a:latin typeface="Aptos"/>
              </a:rPr>
            </a:br>
            <a:r>
              <a:rPr sz="1300" b="0">
                <a:solidFill>
                  <a:srgbClr val="202730"/>
                </a:solidFill>
                <a:latin typeface="Aptos"/>
              </a:rPr>
              <a:t>• Governance is continuous, not one-off</a:t>
            </a:r>
            <a:endParaRPr sz="1300" b="0">
              <a:solidFill>
                <a:srgbClr val="202730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8368" y="61996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4243C"/>
                </a:solidFill>
                <a:latin typeface="Aptos"/>
              </a:rPr>
              <a:t>Skills demonstrated: Data Governance | Data Quality | Privacy | Classification | Lifecycle | Retention | Risk | Responsible AI | Stakeholder Engagement | Governance Review</a:t>
            </a:r>
            <a:endParaRPr sz="1000" b="1">
              <a:solidFill>
                <a:srgbClr val="14243C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6172</Words>
  <Application>WPS Presentation</Application>
  <PresentationFormat>On-screen Show (4:3)</PresentationFormat>
  <Paragraphs>208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Arial</vt:lpstr>
      <vt:lpstr>SimSun</vt:lpstr>
      <vt:lpstr>Wingdings</vt:lpstr>
      <vt:lpstr>Arial</vt:lpstr>
      <vt:lpstr>Aptos</vt:lpstr>
      <vt:lpstr>Segoe UI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WPS_1776688516</cp:lastModifiedBy>
  <cp:revision>3</cp:revision>
  <dcterms:created xsi:type="dcterms:W3CDTF">2013-01-27T09:14:00Z</dcterms:created>
  <dcterms:modified xsi:type="dcterms:W3CDTF">2026-09-08T20:47:47Z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6BA71B359C504C158B20E297DF3021A1_13</vt:lpwstr>
  </property>
  <property fmtid="{D5CDD505-2E9C-101B-9397-08002B2CF9AE}" pid="3" name="KSOProductBuildVer">
    <vt:lpwstr>1033-12.1.0.28485</vt:lpwstr>
  </property>
</Properties>
</file>